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Google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KgMdzgR8+Mq3OnJkC4byAGfgX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GoogleSans-regular.fntdata"/><Relationship Id="rId14" Type="http://schemas.openxmlformats.org/officeDocument/2006/relationships/slide" Target="slides/slide10.xml"/><Relationship Id="rId17" Type="http://schemas.openxmlformats.org/officeDocument/2006/relationships/font" Target="fonts/GoogleSans-italic.fntdata"/><Relationship Id="rId16" Type="http://schemas.openxmlformats.org/officeDocument/2006/relationships/font" Target="fonts/GoogleSans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Google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2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175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2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" name="Google Shape;18;p12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9" name="Google Shape;19;p12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2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12"/>
          <p:cNvSpPr txBox="1"/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  <a:defRPr sz="9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subTitle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/>
        </p:txBody>
      </p:sp>
      <p:sp>
        <p:nvSpPr>
          <p:cNvPr id="23" name="Google Shape;23;p1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4"/>
          <p:cNvSpPr txBox="1"/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  <a:defRPr b="0"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4"/>
          <p:cNvSpPr txBox="1"/>
          <p:nvPr>
            <p:ph idx="10" type="dt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1" type="ftr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8" name="Google Shape;38;p14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39" name="Google Shape;39;p14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14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45" name="Google Shape;45;p15"/>
          <p:cNvSpPr txBox="1"/>
          <p:nvPr>
            <p:ph idx="2" type="body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" type="body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52" name="Google Shape;52;p16"/>
          <p:cNvSpPr txBox="1"/>
          <p:nvPr>
            <p:ph idx="2" type="body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3" name="Google Shape;53;p16"/>
          <p:cNvSpPr txBox="1"/>
          <p:nvPr>
            <p:ph idx="3" type="body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54" name="Google Shape;54;p16"/>
          <p:cNvSpPr txBox="1"/>
          <p:nvPr>
            <p:ph idx="4" type="body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5" name="Google Shape;55;p16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9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71" name="Google Shape;71;p19"/>
          <p:cNvSpPr txBox="1"/>
          <p:nvPr>
            <p:ph idx="2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72" name="Google Shape;72;p19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4" name="Google Shape;74;p19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5" name="Google Shape;75;p1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0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/>
          <p:nvPr>
            <p:ph idx="2" type="pic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83" name="Google Shape;83;p20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" name="Google Shape;84;p20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5" name="Google Shape;85;p20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" type="body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  <a:defRPr b="0" i="0" sz="5400" u="none" cap="none" strike="noStrik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25755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96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96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96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496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496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4959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4959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grpSp>
        <p:nvGrpSpPr>
          <p:cNvPr id="10" name="Google Shape;10;p11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1" name="Google Shape;11;p11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1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" name="Google Shape;13;p1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</a:pPr>
            <a:r>
              <a:rPr lang="en-US"/>
              <a:t>SUPERSTORE ANALYSIS</a:t>
            </a:r>
            <a:endParaRPr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70"/>
              <a:buNone/>
            </a:pPr>
            <a:r>
              <a:rPr lang="en-US"/>
              <a:t>By - Group (101) Mentorship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EXECUTIVE SUMMARY</a:t>
            </a:r>
            <a:endParaRPr/>
          </a:p>
        </p:txBody>
      </p:sp>
      <p:sp>
        <p:nvSpPr>
          <p:cNvPr id="111" name="Google Shape;111;p2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Extract insights from the Superstore Sales Dataset to improve operational efficiency and decision-making in a retail environment.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Revenue Concentration:</a:t>
            </a: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The majority of total revenue (64.3%) is generated by a relatively small number of high-value "Outlier" transactions.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Operational Efficiency:</a:t>
            </a: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Shipping performance varies significantly by class (First Class: 1–3 days; Standard Class: 4–6 days), with Central and East regions experiencing slightly longer durations.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Demand Planning:</a:t>
            </a: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Order volume follows clear seasonal patterns, peaking in the later months of the year (September–December).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Significance:</a:t>
            </a: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Data-driven insights identify specific areas (logistics, sales strategy, and demand planning) where the superstore can enhance performance.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BUSINESS OBJECTIVE</a:t>
            </a:r>
            <a:endParaRPr/>
          </a:p>
        </p:txBody>
      </p:sp>
      <p:sp>
        <p:nvSpPr>
          <p:cNvPr id="117" name="Google Shape;117;p3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b="1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Gain deeper insights from the Superstore Sales Dataset to streamline the activities of the superstore and support better management of sales operations.</a:t>
            </a:r>
            <a:b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Key Questions Addressed by Analysis: </a:t>
            </a:r>
            <a:endParaRPr b="1" i="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How do different shipping classes perform across various regions (Ship Modes)?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What is the revenue contribution by order value category?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What are the order volume trends by month and day of the week?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How do annual sales by product category compare across different years?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</a:pPr>
            <a:r>
              <a:rPr lang="en-US"/>
              <a:t>KEY FINDINGS</a:t>
            </a:r>
            <a:endParaRPr/>
          </a:p>
        </p:txBody>
      </p:sp>
      <p:sp>
        <p:nvSpPr>
          <p:cNvPr id="123" name="Google Shape;123;p4"/>
          <p:cNvSpPr txBox="1"/>
          <p:nvPr>
            <p:ph idx="1" type="body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AND VISUALIZATIONS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SHIPPING PERFORMANCE</a:t>
            </a:r>
            <a:endParaRPr/>
          </a:p>
        </p:txBody>
      </p:sp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1069848" y="2194560"/>
            <a:ext cx="3694716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rPr b="1" i="0" lang="en-US" sz="16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Shipping Duration by Region and Ship Mode Delivery Speed by Class: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60"/>
              <a:buChar char="▪"/>
            </a:pPr>
            <a:r>
              <a:rPr b="0" i="0" lang="en-US" sz="16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First Class shipments are the fastest, typically delivered within 1 to 3 days.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60"/>
              <a:buChar char="▪"/>
            </a:pPr>
            <a:r>
              <a:rPr b="0" i="0" lang="en-US" sz="16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Second Class takes 2 to 4 days.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60"/>
              <a:buChar char="▪"/>
            </a:pPr>
            <a:r>
              <a:rPr b="0" i="0" lang="en-US" sz="16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Standard Class shipments generally require 4 to 6 days.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60"/>
              <a:buFont typeface="Arial"/>
              <a:buChar char="•"/>
            </a:pPr>
            <a:r>
              <a:rPr b="1" i="0" lang="en-US" sz="16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Regional Inefficiency:</a:t>
            </a:r>
            <a:r>
              <a:rPr b="0" i="0" lang="en-US" sz="16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 Deliveries to the Central and East regions showed slightly longer durations, even for faster shipping classes, suggesting potential logistical factors affecting delivery speed in these areas.</a:t>
            </a:r>
            <a:endParaRPr/>
          </a:p>
        </p:txBody>
      </p:sp>
      <p:pic>
        <p:nvPicPr>
          <p:cNvPr id="130" name="Google Shape;130;p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4564" y="2194560"/>
            <a:ext cx="6354286" cy="3177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REVENUE DISTRIBUTION</a:t>
            </a:r>
            <a:endParaRPr/>
          </a:p>
        </p:txBody>
      </p:sp>
      <p:sp>
        <p:nvSpPr>
          <p:cNvPr id="136" name="Google Shape;136;p6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i="0" lang="en-US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Revenue Contribution by Order Value Category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i="0" lang="en-US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High Dependency:</a:t>
            </a:r>
            <a:r>
              <a:rPr b="0" i="0" lang="en-US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 The business relies heavily on large-value transactions.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i="0" lang="en-US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Outlier Contribution:</a:t>
            </a:r>
            <a:r>
              <a:rPr b="0" i="0" lang="en-US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 Orders categorized as "Outliers" (very large orders) contributed the majority of total revenue at 64.3%.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i="0" lang="en-US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Mid-Value Segment:</a:t>
            </a:r>
            <a:r>
              <a:rPr b="0" i="0" lang="en-US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 High Volume orders accounted for 19% of total revenue, and Average orders accounted for 15.7%.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i="0" lang="en-US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Low Impact:</a:t>
            </a:r>
            <a:r>
              <a:rPr b="0" i="0" lang="en-US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 Low Volume orders contribute only 1% to overall revenue.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37" name="Google Shape;137;p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845499"/>
            <a:ext cx="4527869" cy="4527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ORDER VOLUME TRENDS</a:t>
            </a:r>
            <a:endParaRPr/>
          </a:p>
        </p:txBody>
      </p:sp>
      <p:sp>
        <p:nvSpPr>
          <p:cNvPr id="143" name="Google Shape;143;p7"/>
          <p:cNvSpPr txBox="1"/>
          <p:nvPr>
            <p:ph idx="1" type="body"/>
          </p:nvPr>
        </p:nvSpPr>
        <p:spPr>
          <a:xfrm>
            <a:off x="1069848" y="2194560"/>
            <a:ext cx="3850944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b="1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Seasonal and Weekly Order Patterns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b="1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Peak Season:</a:t>
            </a:r>
            <a:r>
              <a:rPr b="0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The busiest months for orders are December, November, September, and October, indicating increased seasonal demand toward the end of the year.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b="1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Busiest Days:</a:t>
            </a:r>
            <a:r>
              <a:rPr b="0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Order volumes are highest on Saturday, Sunday, Tuesday, and Monday.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b="1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Slow Periods:</a:t>
            </a:r>
            <a:r>
              <a:rPr b="0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Thursday and Friday experience relatively lower order volumes. The lowest activity was observed on Thursdays in January.</a:t>
            </a:r>
            <a:endParaRPr/>
          </a:p>
        </p:txBody>
      </p:sp>
      <p:pic>
        <p:nvPicPr>
          <p:cNvPr id="144" name="Google Shape;144;p7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0586" y="1780849"/>
            <a:ext cx="6350178" cy="4233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YEARLY SALES COMPARISON</a:t>
            </a:r>
            <a:endParaRPr/>
          </a:p>
        </p:txBody>
      </p:sp>
      <p:sp>
        <p:nvSpPr>
          <p:cNvPr id="150" name="Google Shape;150;p8"/>
          <p:cNvSpPr txBox="1"/>
          <p:nvPr>
            <p:ph idx="1" type="body"/>
          </p:nvPr>
        </p:nvSpPr>
        <p:spPr>
          <a:xfrm>
            <a:off x="1069848" y="2194560"/>
            <a:ext cx="4011199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b="1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Sales Performance by Product Category (2015–2018)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b="1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Overall Trend:</a:t>
            </a:r>
            <a:r>
              <a:rPr b="0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Total sales generally increased over the years in the dataset.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b="1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2016 Decline:</a:t>
            </a:r>
            <a:r>
              <a:rPr b="0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Total sales declined in 2016 compared to the previous year, the only decline observed.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b="1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Key Drivers of Decline:</a:t>
            </a:r>
            <a:r>
              <a:rPr b="0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This reduction was largely driven by decreased sales within the </a:t>
            </a:r>
            <a:r>
              <a:rPr b="1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Office Supplies</a:t>
            </a:r>
            <a:r>
              <a:rPr b="0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and </a:t>
            </a:r>
            <a:r>
              <a:rPr b="1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Technology</a:t>
            </a:r>
            <a:r>
              <a:rPr b="0" i="0" lang="en-US" sz="18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categories, highlighting their dominant role in overall revenue trends.</a:t>
            </a:r>
            <a:endParaRPr/>
          </a:p>
        </p:txBody>
      </p:sp>
      <p:pic>
        <p:nvPicPr>
          <p:cNvPr id="151" name="Google Shape;151;p8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3450" y="2093976"/>
            <a:ext cx="6015400" cy="3609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RECOMMENDATIONS</a:t>
            </a:r>
            <a:endParaRPr/>
          </a:p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82880" lvl="0" marL="18288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85000"/>
              <a:buFont typeface="Arial"/>
              <a:buChar char="•"/>
            </a:pPr>
            <a:r>
              <a:rPr b="1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Improve Shipping Logistics:</a:t>
            </a: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Review and optimize logistics operations (routes, warehouse locations, shipping partners) in the Central and East regions to reduce delivery durations.</a:t>
            </a:r>
            <a:endParaRPr/>
          </a:p>
          <a:p>
            <a:pPr indent="-182880" lvl="0" marL="182880" rtl="0" algn="l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SzPct val="85000"/>
              <a:buFont typeface="Arial"/>
              <a:buChar char="•"/>
            </a:pPr>
            <a:r>
              <a:rPr b="1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Strengthen High-Value Customer Relationships:</a:t>
            </a: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Implement strategies like loyalty programs or personalized offers to retain high-value customers who generate the majority of revenue.</a:t>
            </a:r>
            <a:endParaRPr/>
          </a:p>
          <a:p>
            <a:pPr indent="-182880" lvl="0" marL="182880" rtl="0" algn="l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SzPct val="85000"/>
              <a:buFont typeface="Arial"/>
              <a:buChar char="•"/>
            </a:pPr>
            <a:r>
              <a:rPr b="1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Optimize Inventory Management:</a:t>
            </a: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Ensure adequate inventory levels from September through December to prevent stock shortages during peak demand periods.</a:t>
            </a:r>
            <a:endParaRPr/>
          </a:p>
          <a:p>
            <a:pPr indent="-182880" lvl="0" marL="182880" rtl="0" algn="l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SzPct val="85000"/>
              <a:buFont typeface="Arial"/>
              <a:buChar char="•"/>
            </a:pPr>
            <a:r>
              <a:rPr b="1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Stimulate Low Activity Periods:</a:t>
            </a: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Launch targeted promotions or marketing campaigns during low order activity times (e.g., early-year months and weekdays) to boost demand.</a:t>
            </a:r>
            <a:endParaRPr/>
          </a:p>
          <a:p>
            <a:pPr indent="-182880" lvl="0" marL="182880" rtl="0" algn="l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SzPct val="85000"/>
              <a:buFont typeface="Arial"/>
              <a:buChar char="•"/>
            </a:pPr>
            <a:r>
              <a:rPr b="1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Monitor Category Performance:</a:t>
            </a: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Continuously monitor category-level sales, particularly for Office Supplies and Technology, and rapidly respond to declining trends with pricing or product diversification.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LIMITATIONS</a:t>
            </a:r>
            <a:endParaRPr/>
          </a:p>
        </p:txBody>
      </p:sp>
      <p:sp>
        <p:nvSpPr>
          <p:cNvPr id="163" name="Google Shape;163;p10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182880" lvl="0" marL="1828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 typeface="Arial"/>
              <a:buChar char="•"/>
            </a:pPr>
            <a:r>
              <a:rPr b="1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Data Scope:</a:t>
            </a: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The analysis is based exclusively on the Superstore Sales Dataset, which may limit the generalizability of the findings to other retail environments or broader market conditions.</a:t>
            </a:r>
            <a:endParaRPr/>
          </a:p>
          <a:p>
            <a:pPr indent="-182880" lvl="0" marL="18288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85000"/>
              <a:buFont typeface="Arial"/>
              <a:buChar char="•"/>
            </a:pPr>
            <a:r>
              <a:rPr b="1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Time Period:</a:t>
            </a: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Sales performance comparisons are confined to the years covered in the dataset (2015–2018).</a:t>
            </a:r>
            <a:endParaRPr/>
          </a:p>
          <a:p>
            <a:pPr indent="-182880" lvl="0" marL="18288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85000"/>
              <a:buFont typeface="Arial"/>
              <a:buChar char="•"/>
            </a:pPr>
            <a:r>
              <a:rPr b="1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Focus on Revenue/Shipping:</a:t>
            </a:r>
            <a:r>
              <a:rPr b="0" i="0"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The study focuses on sales revenue and shipping duration but does not integrate other critical performance metrics like profitability (e.g., costs, margins) or customer satisfaction feedback, which would provide a more complete view of operational efficiency.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2026-03-13T18:29:56Z</dcterms:created>
  <dc:creator>Daniel Orji</dc:creator>
</cp:coreProperties>
</file>